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19"/>
  </p:notesMasterIdLst>
  <p:handoutMasterIdLst>
    <p:handoutMasterId r:id="rId20"/>
  </p:handoutMasterIdLst>
  <p:sldIdLst>
    <p:sldId id="256" r:id="rId5"/>
    <p:sldId id="258" r:id="rId6"/>
    <p:sldId id="260" r:id="rId7"/>
    <p:sldId id="275" r:id="rId8"/>
    <p:sldId id="276" r:id="rId9"/>
    <p:sldId id="277" r:id="rId10"/>
    <p:sldId id="278" r:id="rId11"/>
    <p:sldId id="279" r:id="rId12"/>
    <p:sldId id="280" r:id="rId13"/>
    <p:sldId id="281" r:id="rId14"/>
    <p:sldId id="282" r:id="rId15"/>
    <p:sldId id="283" r:id="rId16"/>
    <p:sldId id="284"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snapToObjects="1">
      <p:cViewPr varScale="1">
        <p:scale>
          <a:sx n="78" d="100"/>
          <a:sy n="78" d="100"/>
        </p:scale>
        <p:origin x="878" y="72"/>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9A589A-46DE-0F49-B460-E7914F3E440D}" type="doc">
      <dgm:prSet loTypeId="urn:microsoft.com/office/officeart/2018/2/layout/IconCircleList" loCatId="icon" qsTypeId="urn:microsoft.com/office/officeart/2005/8/quickstyle/simple1" qsCatId="simple" csTypeId="urn:microsoft.com/office/officeart/2018/5/colors/Iconchunking_neutralicon_accent3_2" csCatId="accent3" phldr="1"/>
      <dgm:spPr/>
      <dgm:t>
        <a:bodyPr/>
        <a:lstStyle/>
        <a:p>
          <a:endParaRPr lang="en-US"/>
        </a:p>
      </dgm:t>
    </dgm:pt>
    <dgm:pt modelId="{66039115-797B-304C-9FC0-EFABB1F21232}">
      <dgm:prSet/>
      <dgm:spPr/>
      <dgm:t>
        <a:bodyPr/>
        <a:lstStyle/>
        <a:p>
          <a:pPr>
            <a:lnSpc>
              <a:spcPct val="100000"/>
            </a:lnSpc>
          </a:pPr>
          <a:r>
            <a:rPr lang="en-US" dirty="0"/>
            <a:t>Machine Language</a:t>
          </a:r>
        </a:p>
      </dgm:t>
    </dgm:pt>
    <dgm:pt modelId="{C8EABE8F-1E84-494E-AD8A-32BA419A36E9}" type="parTrans" cxnId="{31C3237C-2299-B649-8C93-587C97AC9999}">
      <dgm:prSet/>
      <dgm:spPr/>
      <dgm:t>
        <a:bodyPr/>
        <a:lstStyle/>
        <a:p>
          <a:endParaRPr lang="en-US"/>
        </a:p>
      </dgm:t>
    </dgm:pt>
    <dgm:pt modelId="{D044F6BA-1D90-EC47-8A78-B9796198ECF5}" type="sibTrans" cxnId="{31C3237C-2299-B649-8C93-587C97AC9999}">
      <dgm:prSet/>
      <dgm:spPr/>
      <dgm:t>
        <a:bodyPr/>
        <a:lstStyle/>
        <a:p>
          <a:pPr>
            <a:lnSpc>
              <a:spcPct val="100000"/>
            </a:lnSpc>
          </a:pPr>
          <a:endParaRPr lang="en-US"/>
        </a:p>
      </dgm:t>
    </dgm:pt>
    <dgm:pt modelId="{E39563C5-C199-4F5B-A899-8CC0710341A0}">
      <dgm:prSet/>
      <dgm:spPr/>
      <dgm:t>
        <a:bodyPr/>
        <a:lstStyle/>
        <a:p>
          <a:pPr>
            <a:lnSpc>
              <a:spcPct val="100000"/>
            </a:lnSpc>
          </a:pPr>
          <a:r>
            <a:rPr lang="en-US" dirty="0"/>
            <a:t>Hand </a:t>
          </a:r>
          <a:r>
            <a:rPr lang="en-US"/>
            <a:t>Gesture Recognition</a:t>
          </a:r>
          <a:endParaRPr lang="en-US" dirty="0"/>
        </a:p>
      </dgm:t>
    </dgm:pt>
    <dgm:pt modelId="{6531EA77-44C5-4E3D-BA04-70C1E49BCD39}" type="parTrans" cxnId="{BBAD9FDB-1013-4B11-A9AE-2815527D1B78}">
      <dgm:prSet/>
      <dgm:spPr/>
      <dgm:t>
        <a:bodyPr/>
        <a:lstStyle/>
        <a:p>
          <a:endParaRPr lang="en-US"/>
        </a:p>
      </dgm:t>
    </dgm:pt>
    <dgm:pt modelId="{BC971DAC-9BE2-44B2-ABE4-8099C777E9C4}" type="sibTrans" cxnId="{BBAD9FDB-1013-4B11-A9AE-2815527D1B78}">
      <dgm:prSet/>
      <dgm:spPr/>
      <dgm:t>
        <a:bodyPr/>
        <a:lstStyle/>
        <a:p>
          <a:pPr>
            <a:lnSpc>
              <a:spcPct val="100000"/>
            </a:lnSpc>
          </a:pPr>
          <a:endParaRPr lang="en-US"/>
        </a:p>
      </dgm:t>
    </dgm:pt>
    <dgm:pt modelId="{3AA5586A-C40E-4DDA-98A5-6545F36F46AB}">
      <dgm:prSet/>
      <dgm:spPr/>
      <dgm:t>
        <a:bodyPr/>
        <a:lstStyle/>
        <a:p>
          <a:pPr>
            <a:lnSpc>
              <a:spcPct val="100000"/>
            </a:lnSpc>
          </a:pPr>
          <a:r>
            <a:rPr lang="en-US" dirty="0"/>
            <a:t>Print Prediction</a:t>
          </a:r>
        </a:p>
      </dgm:t>
    </dgm:pt>
    <dgm:pt modelId="{ABF44FB7-9255-4D99-BC69-3BE74FDF8E87}" type="parTrans" cxnId="{119FEAF1-383D-4740-9124-CC9EEA7E35F9}">
      <dgm:prSet/>
      <dgm:spPr/>
      <dgm:t>
        <a:bodyPr/>
        <a:lstStyle/>
        <a:p>
          <a:endParaRPr lang="en-US"/>
        </a:p>
      </dgm:t>
    </dgm:pt>
    <dgm:pt modelId="{19FB306E-81B4-4F3F-99EE-765120CBB6B3}" type="sibTrans" cxnId="{119FEAF1-383D-4740-9124-CC9EEA7E35F9}">
      <dgm:prSet/>
      <dgm:spPr/>
      <dgm:t>
        <a:bodyPr/>
        <a:lstStyle/>
        <a:p>
          <a:endParaRPr lang="en-US"/>
        </a:p>
      </dgm:t>
    </dgm:pt>
    <dgm:pt modelId="{2393CE7E-BC33-48F4-A620-B8D79C935E97}">
      <dgm:prSet/>
      <dgm:spPr/>
      <dgm:t>
        <a:bodyPr/>
        <a:lstStyle/>
        <a:p>
          <a:pPr>
            <a:lnSpc>
              <a:spcPct val="100000"/>
            </a:lnSpc>
          </a:pPr>
          <a:r>
            <a:rPr lang="en-US" dirty="0"/>
            <a:t>Graphical Representation</a:t>
          </a:r>
        </a:p>
      </dgm:t>
    </dgm:pt>
    <dgm:pt modelId="{EE36E4A5-3B4D-4250-9BC5-97BD8F79D1B8}" type="parTrans" cxnId="{2E29FD29-4CF7-46C4-9FAF-09F27F032855}">
      <dgm:prSet/>
      <dgm:spPr/>
      <dgm:t>
        <a:bodyPr/>
        <a:lstStyle/>
        <a:p>
          <a:endParaRPr lang="en-IN"/>
        </a:p>
      </dgm:t>
    </dgm:pt>
    <dgm:pt modelId="{C0B44DD0-C7CD-4D4D-8371-3227331FD2D4}" type="sibTrans" cxnId="{2E29FD29-4CF7-46C4-9FAF-09F27F032855}">
      <dgm:prSet/>
      <dgm:spPr/>
      <dgm:t>
        <a:bodyPr/>
        <a:lstStyle/>
        <a:p>
          <a:pPr>
            <a:lnSpc>
              <a:spcPct val="100000"/>
            </a:lnSpc>
          </a:pPr>
          <a:endParaRPr lang="en-IN"/>
        </a:p>
      </dgm:t>
    </dgm:pt>
    <dgm:pt modelId="{B80C9CF3-C6BB-48D7-8AE1-5002D62D3761}" type="pres">
      <dgm:prSet presAssocID="{489A589A-46DE-0F49-B460-E7914F3E440D}" presName="root" presStyleCnt="0">
        <dgm:presLayoutVars>
          <dgm:dir/>
          <dgm:resizeHandles val="exact"/>
        </dgm:presLayoutVars>
      </dgm:prSet>
      <dgm:spPr/>
    </dgm:pt>
    <dgm:pt modelId="{326FDCF2-F375-4C3F-9814-C84BA9388F92}" type="pres">
      <dgm:prSet presAssocID="{489A589A-46DE-0F49-B460-E7914F3E440D}" presName="container" presStyleCnt="0">
        <dgm:presLayoutVars>
          <dgm:dir/>
          <dgm:resizeHandles val="exact"/>
        </dgm:presLayoutVars>
      </dgm:prSet>
      <dgm:spPr/>
    </dgm:pt>
    <dgm:pt modelId="{174069BD-8FE1-41A2-8250-6A5514FE224C}" type="pres">
      <dgm:prSet presAssocID="{66039115-797B-304C-9FC0-EFABB1F21232}" presName="compNode" presStyleCnt="0"/>
      <dgm:spPr/>
    </dgm:pt>
    <dgm:pt modelId="{5E340066-1B2E-4C4E-80A2-97E86ABFA479}" type="pres">
      <dgm:prSet presAssocID="{66039115-797B-304C-9FC0-EFABB1F21232}" presName="iconBgRect" presStyleLbl="bgShp" presStyleIdx="0" presStyleCnt="4"/>
      <dgm:spPr/>
    </dgm:pt>
    <dgm:pt modelId="{F55B2F71-E638-412C-8147-FC7081E08B04}" type="pres">
      <dgm:prSet presAssocID="{66039115-797B-304C-9FC0-EFABB1F2123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bulb"/>
        </a:ext>
      </dgm:extLst>
    </dgm:pt>
    <dgm:pt modelId="{5CDA7D5A-F452-463F-998B-177A76E8C08F}" type="pres">
      <dgm:prSet presAssocID="{66039115-797B-304C-9FC0-EFABB1F21232}" presName="spaceRect" presStyleCnt="0"/>
      <dgm:spPr/>
    </dgm:pt>
    <dgm:pt modelId="{E05AF25A-E676-44EA-BB66-F2100ACAD1CB}" type="pres">
      <dgm:prSet presAssocID="{66039115-797B-304C-9FC0-EFABB1F21232}" presName="textRect" presStyleLbl="revTx" presStyleIdx="0" presStyleCnt="4">
        <dgm:presLayoutVars>
          <dgm:chMax val="1"/>
          <dgm:chPref val="1"/>
        </dgm:presLayoutVars>
      </dgm:prSet>
      <dgm:spPr/>
    </dgm:pt>
    <dgm:pt modelId="{BB1D33AA-C75A-465A-93F0-2B3A7346088F}" type="pres">
      <dgm:prSet presAssocID="{D044F6BA-1D90-EC47-8A78-B9796198ECF5}" presName="sibTrans" presStyleLbl="sibTrans2D1" presStyleIdx="0" presStyleCnt="0"/>
      <dgm:spPr/>
    </dgm:pt>
    <dgm:pt modelId="{D641F504-B527-445D-81F6-4B59E813C4A0}" type="pres">
      <dgm:prSet presAssocID="{E39563C5-C199-4F5B-A899-8CC0710341A0}" presName="compNode" presStyleCnt="0"/>
      <dgm:spPr/>
    </dgm:pt>
    <dgm:pt modelId="{75512A68-FA50-4392-A441-C6EC352FE606}" type="pres">
      <dgm:prSet presAssocID="{E39563C5-C199-4F5B-A899-8CC0710341A0}" presName="iconBgRect" presStyleLbl="bgShp" presStyleIdx="1" presStyleCnt="4"/>
      <dgm:spPr/>
    </dgm:pt>
    <dgm:pt modelId="{C425A8E1-258A-4D4B-9D55-24376C0AB360}" type="pres">
      <dgm:prSet presAssocID="{E39563C5-C199-4F5B-A899-8CC0710341A0}"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ign language with solid fill"/>
        </a:ext>
      </dgm:extLst>
    </dgm:pt>
    <dgm:pt modelId="{9E9B2F2E-EF94-42A4-A2BE-0DEE20425DEE}" type="pres">
      <dgm:prSet presAssocID="{E39563C5-C199-4F5B-A899-8CC0710341A0}" presName="spaceRect" presStyleCnt="0"/>
      <dgm:spPr/>
    </dgm:pt>
    <dgm:pt modelId="{523C7F31-A7C1-43C9-AE27-AAE9100EE1FE}" type="pres">
      <dgm:prSet presAssocID="{E39563C5-C199-4F5B-A899-8CC0710341A0}" presName="textRect" presStyleLbl="revTx" presStyleIdx="1" presStyleCnt="4">
        <dgm:presLayoutVars>
          <dgm:chMax val="1"/>
          <dgm:chPref val="1"/>
        </dgm:presLayoutVars>
      </dgm:prSet>
      <dgm:spPr/>
    </dgm:pt>
    <dgm:pt modelId="{CEB8DC13-2561-455C-A0BE-EE905F81836F}" type="pres">
      <dgm:prSet presAssocID="{BC971DAC-9BE2-44B2-ABE4-8099C777E9C4}" presName="sibTrans" presStyleLbl="sibTrans2D1" presStyleIdx="0" presStyleCnt="0"/>
      <dgm:spPr/>
    </dgm:pt>
    <dgm:pt modelId="{CF34D816-87C2-40B0-B322-31073A7E2C4D}" type="pres">
      <dgm:prSet presAssocID="{2393CE7E-BC33-48F4-A620-B8D79C935E97}" presName="compNode" presStyleCnt="0"/>
      <dgm:spPr/>
    </dgm:pt>
    <dgm:pt modelId="{A739558E-11BD-4F42-AB33-7E7B2285B3C2}" type="pres">
      <dgm:prSet presAssocID="{2393CE7E-BC33-48F4-A620-B8D79C935E97}" presName="iconBgRect" presStyleLbl="bgShp" presStyleIdx="2" presStyleCnt="4"/>
      <dgm:spPr/>
    </dgm:pt>
    <dgm:pt modelId="{D8391CBB-C9B1-478F-B46A-92536215AB43}" type="pres">
      <dgm:prSet presAssocID="{2393CE7E-BC33-48F4-A620-B8D79C935E97}"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Presentation with bar chart with solid fill"/>
        </a:ext>
      </dgm:extLst>
    </dgm:pt>
    <dgm:pt modelId="{09D5C6D4-143F-42AB-908C-4B38D1DD0E66}" type="pres">
      <dgm:prSet presAssocID="{2393CE7E-BC33-48F4-A620-B8D79C935E97}" presName="spaceRect" presStyleCnt="0"/>
      <dgm:spPr/>
    </dgm:pt>
    <dgm:pt modelId="{FC5971DA-399E-44BB-AEA8-647938CF9D42}" type="pres">
      <dgm:prSet presAssocID="{2393CE7E-BC33-48F4-A620-B8D79C935E97}" presName="textRect" presStyleLbl="revTx" presStyleIdx="2" presStyleCnt="4">
        <dgm:presLayoutVars>
          <dgm:chMax val="1"/>
          <dgm:chPref val="1"/>
        </dgm:presLayoutVars>
      </dgm:prSet>
      <dgm:spPr/>
    </dgm:pt>
    <dgm:pt modelId="{D20D9153-AC41-411A-A22F-8F7557F0FDA5}" type="pres">
      <dgm:prSet presAssocID="{C0B44DD0-C7CD-4D4D-8371-3227331FD2D4}" presName="sibTrans" presStyleLbl="sibTrans2D1" presStyleIdx="0" presStyleCnt="0"/>
      <dgm:spPr/>
    </dgm:pt>
    <dgm:pt modelId="{BDD20EE1-5DFF-4E16-802C-2448893CCB5A}" type="pres">
      <dgm:prSet presAssocID="{3AA5586A-C40E-4DDA-98A5-6545F36F46AB}" presName="compNode" presStyleCnt="0"/>
      <dgm:spPr/>
    </dgm:pt>
    <dgm:pt modelId="{7089FE6B-57E5-4306-8097-E758E000C828}" type="pres">
      <dgm:prSet presAssocID="{3AA5586A-C40E-4DDA-98A5-6545F36F46AB}" presName="iconBgRect" presStyleLbl="bgShp" presStyleIdx="3" presStyleCnt="4"/>
      <dgm:spPr/>
    </dgm:pt>
    <dgm:pt modelId="{41C0BC0F-FFD5-42B5-B952-9316B9364F6F}" type="pres">
      <dgm:prSet presAssocID="{3AA5586A-C40E-4DDA-98A5-6545F36F46AB}"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Document with solid fill"/>
        </a:ext>
      </dgm:extLst>
    </dgm:pt>
    <dgm:pt modelId="{392FDDC2-BC7A-49BF-88A1-7B4956AD8377}" type="pres">
      <dgm:prSet presAssocID="{3AA5586A-C40E-4DDA-98A5-6545F36F46AB}" presName="spaceRect" presStyleCnt="0"/>
      <dgm:spPr/>
    </dgm:pt>
    <dgm:pt modelId="{7703AFE5-FAA2-4D8A-AEFA-D3C5CB41E5BC}" type="pres">
      <dgm:prSet presAssocID="{3AA5586A-C40E-4DDA-98A5-6545F36F46AB}" presName="textRect" presStyleLbl="revTx" presStyleIdx="3" presStyleCnt="4">
        <dgm:presLayoutVars>
          <dgm:chMax val="1"/>
          <dgm:chPref val="1"/>
        </dgm:presLayoutVars>
      </dgm:prSet>
      <dgm:spPr/>
    </dgm:pt>
  </dgm:ptLst>
  <dgm:cxnLst>
    <dgm:cxn modelId="{F500F212-B1E8-4177-88EB-379FE553E567}" type="presOf" srcId="{BC971DAC-9BE2-44B2-ABE4-8099C777E9C4}" destId="{CEB8DC13-2561-455C-A0BE-EE905F81836F}" srcOrd="0" destOrd="0" presId="urn:microsoft.com/office/officeart/2018/2/layout/IconCircleList"/>
    <dgm:cxn modelId="{C2028414-4E44-4009-9619-A3329463EBE6}" type="presOf" srcId="{66039115-797B-304C-9FC0-EFABB1F21232}" destId="{E05AF25A-E676-44EA-BB66-F2100ACAD1CB}" srcOrd="0" destOrd="0" presId="urn:microsoft.com/office/officeart/2018/2/layout/IconCircleList"/>
    <dgm:cxn modelId="{2E29FD29-4CF7-46C4-9FAF-09F27F032855}" srcId="{489A589A-46DE-0F49-B460-E7914F3E440D}" destId="{2393CE7E-BC33-48F4-A620-B8D79C935E97}" srcOrd="2" destOrd="0" parTransId="{EE36E4A5-3B4D-4250-9BC5-97BD8F79D1B8}" sibTransId="{C0B44DD0-C7CD-4D4D-8371-3227331FD2D4}"/>
    <dgm:cxn modelId="{3682502D-BD4B-4C8B-B999-4FE14243DA2F}" type="presOf" srcId="{E39563C5-C199-4F5B-A899-8CC0710341A0}" destId="{523C7F31-A7C1-43C9-AE27-AAE9100EE1FE}" srcOrd="0" destOrd="0" presId="urn:microsoft.com/office/officeart/2018/2/layout/IconCircleList"/>
    <dgm:cxn modelId="{CC35994C-C0C2-47F2-9314-67229FE39C59}" type="presOf" srcId="{C0B44DD0-C7CD-4D4D-8371-3227331FD2D4}" destId="{D20D9153-AC41-411A-A22F-8F7557F0FDA5}" srcOrd="0" destOrd="0" presId="urn:microsoft.com/office/officeart/2018/2/layout/IconCircleList"/>
    <dgm:cxn modelId="{5709F07B-1F83-40CF-98E3-20508A9E714F}" type="presOf" srcId="{2393CE7E-BC33-48F4-A620-B8D79C935E97}" destId="{FC5971DA-399E-44BB-AEA8-647938CF9D42}" srcOrd="0" destOrd="0" presId="urn:microsoft.com/office/officeart/2018/2/layout/IconCircleList"/>
    <dgm:cxn modelId="{31C3237C-2299-B649-8C93-587C97AC9999}" srcId="{489A589A-46DE-0F49-B460-E7914F3E440D}" destId="{66039115-797B-304C-9FC0-EFABB1F21232}" srcOrd="0" destOrd="0" parTransId="{C8EABE8F-1E84-494E-AD8A-32BA419A36E9}" sibTransId="{D044F6BA-1D90-EC47-8A78-B9796198ECF5}"/>
    <dgm:cxn modelId="{9AA16E9C-4C36-43A5-A786-66256F4B87CC}" type="presOf" srcId="{D044F6BA-1D90-EC47-8A78-B9796198ECF5}" destId="{BB1D33AA-C75A-465A-93F0-2B3A7346088F}" srcOrd="0" destOrd="0" presId="urn:microsoft.com/office/officeart/2018/2/layout/IconCircleList"/>
    <dgm:cxn modelId="{65F7D3A9-7360-41F2-9288-DC394F90F4EC}" type="presOf" srcId="{3AA5586A-C40E-4DDA-98A5-6545F36F46AB}" destId="{7703AFE5-FAA2-4D8A-AEFA-D3C5CB41E5BC}" srcOrd="0" destOrd="0" presId="urn:microsoft.com/office/officeart/2018/2/layout/IconCircleList"/>
    <dgm:cxn modelId="{0D34FCB2-3F4C-42A6-BB2D-60FA9564F405}" type="presOf" srcId="{489A589A-46DE-0F49-B460-E7914F3E440D}" destId="{B80C9CF3-C6BB-48D7-8AE1-5002D62D3761}" srcOrd="0" destOrd="0" presId="urn:microsoft.com/office/officeart/2018/2/layout/IconCircleList"/>
    <dgm:cxn modelId="{BBAD9FDB-1013-4B11-A9AE-2815527D1B78}" srcId="{489A589A-46DE-0F49-B460-E7914F3E440D}" destId="{E39563C5-C199-4F5B-A899-8CC0710341A0}" srcOrd="1" destOrd="0" parTransId="{6531EA77-44C5-4E3D-BA04-70C1E49BCD39}" sibTransId="{BC971DAC-9BE2-44B2-ABE4-8099C777E9C4}"/>
    <dgm:cxn modelId="{119FEAF1-383D-4740-9124-CC9EEA7E35F9}" srcId="{489A589A-46DE-0F49-B460-E7914F3E440D}" destId="{3AA5586A-C40E-4DDA-98A5-6545F36F46AB}" srcOrd="3" destOrd="0" parTransId="{ABF44FB7-9255-4D99-BC69-3BE74FDF8E87}" sibTransId="{19FB306E-81B4-4F3F-99EE-765120CBB6B3}"/>
    <dgm:cxn modelId="{BF36CAD1-B688-447E-A701-12D1A5EB1C61}" type="presParOf" srcId="{B80C9CF3-C6BB-48D7-8AE1-5002D62D3761}" destId="{326FDCF2-F375-4C3F-9814-C84BA9388F92}" srcOrd="0" destOrd="0" presId="urn:microsoft.com/office/officeart/2018/2/layout/IconCircleList"/>
    <dgm:cxn modelId="{FBFDC197-07BE-4C6F-83B2-02194176B69E}" type="presParOf" srcId="{326FDCF2-F375-4C3F-9814-C84BA9388F92}" destId="{174069BD-8FE1-41A2-8250-6A5514FE224C}" srcOrd="0" destOrd="0" presId="urn:microsoft.com/office/officeart/2018/2/layout/IconCircleList"/>
    <dgm:cxn modelId="{C5F01509-F7BC-425F-B296-A98C860A07F3}" type="presParOf" srcId="{174069BD-8FE1-41A2-8250-6A5514FE224C}" destId="{5E340066-1B2E-4C4E-80A2-97E86ABFA479}" srcOrd="0" destOrd="0" presId="urn:microsoft.com/office/officeart/2018/2/layout/IconCircleList"/>
    <dgm:cxn modelId="{6798BD59-DB22-44F4-9499-B795ECC6FB92}" type="presParOf" srcId="{174069BD-8FE1-41A2-8250-6A5514FE224C}" destId="{F55B2F71-E638-412C-8147-FC7081E08B04}" srcOrd="1" destOrd="0" presId="urn:microsoft.com/office/officeart/2018/2/layout/IconCircleList"/>
    <dgm:cxn modelId="{8ED6BB7E-069D-4BD0-874A-A765097C6426}" type="presParOf" srcId="{174069BD-8FE1-41A2-8250-6A5514FE224C}" destId="{5CDA7D5A-F452-463F-998B-177A76E8C08F}" srcOrd="2" destOrd="0" presId="urn:microsoft.com/office/officeart/2018/2/layout/IconCircleList"/>
    <dgm:cxn modelId="{6FA12472-3D68-4E1C-81AF-02DC5B01E334}" type="presParOf" srcId="{174069BD-8FE1-41A2-8250-6A5514FE224C}" destId="{E05AF25A-E676-44EA-BB66-F2100ACAD1CB}" srcOrd="3" destOrd="0" presId="urn:microsoft.com/office/officeart/2018/2/layout/IconCircleList"/>
    <dgm:cxn modelId="{2E917479-9046-4584-8A6D-BEC73C11FC76}" type="presParOf" srcId="{326FDCF2-F375-4C3F-9814-C84BA9388F92}" destId="{BB1D33AA-C75A-465A-93F0-2B3A7346088F}" srcOrd="1" destOrd="0" presId="urn:microsoft.com/office/officeart/2018/2/layout/IconCircleList"/>
    <dgm:cxn modelId="{A0B340C2-CAB3-4AD7-B651-672DD667AAD7}" type="presParOf" srcId="{326FDCF2-F375-4C3F-9814-C84BA9388F92}" destId="{D641F504-B527-445D-81F6-4B59E813C4A0}" srcOrd="2" destOrd="0" presId="urn:microsoft.com/office/officeart/2018/2/layout/IconCircleList"/>
    <dgm:cxn modelId="{FBFE3BE7-5577-4A5D-85CC-215287D3D6AD}" type="presParOf" srcId="{D641F504-B527-445D-81F6-4B59E813C4A0}" destId="{75512A68-FA50-4392-A441-C6EC352FE606}" srcOrd="0" destOrd="0" presId="urn:microsoft.com/office/officeart/2018/2/layout/IconCircleList"/>
    <dgm:cxn modelId="{E2CE3B82-49EF-49C5-869E-0F82B174F9E9}" type="presParOf" srcId="{D641F504-B527-445D-81F6-4B59E813C4A0}" destId="{C425A8E1-258A-4D4B-9D55-24376C0AB360}" srcOrd="1" destOrd="0" presId="urn:microsoft.com/office/officeart/2018/2/layout/IconCircleList"/>
    <dgm:cxn modelId="{FE67C476-DCF9-4F8A-ACDB-300B11852414}" type="presParOf" srcId="{D641F504-B527-445D-81F6-4B59E813C4A0}" destId="{9E9B2F2E-EF94-42A4-A2BE-0DEE20425DEE}" srcOrd="2" destOrd="0" presId="urn:microsoft.com/office/officeart/2018/2/layout/IconCircleList"/>
    <dgm:cxn modelId="{4CA023EA-A382-4DD9-9FA1-18E0D66061BD}" type="presParOf" srcId="{D641F504-B527-445D-81F6-4B59E813C4A0}" destId="{523C7F31-A7C1-43C9-AE27-AAE9100EE1FE}" srcOrd="3" destOrd="0" presId="urn:microsoft.com/office/officeart/2018/2/layout/IconCircleList"/>
    <dgm:cxn modelId="{26A45859-BDA1-42A1-B72D-E642F4519323}" type="presParOf" srcId="{326FDCF2-F375-4C3F-9814-C84BA9388F92}" destId="{CEB8DC13-2561-455C-A0BE-EE905F81836F}" srcOrd="3" destOrd="0" presId="urn:microsoft.com/office/officeart/2018/2/layout/IconCircleList"/>
    <dgm:cxn modelId="{D977E675-E13C-46F5-87D4-503044AA0135}" type="presParOf" srcId="{326FDCF2-F375-4C3F-9814-C84BA9388F92}" destId="{CF34D816-87C2-40B0-B322-31073A7E2C4D}" srcOrd="4" destOrd="0" presId="urn:microsoft.com/office/officeart/2018/2/layout/IconCircleList"/>
    <dgm:cxn modelId="{BFAE86F6-7E1D-4010-9E40-62F7940299CD}" type="presParOf" srcId="{CF34D816-87C2-40B0-B322-31073A7E2C4D}" destId="{A739558E-11BD-4F42-AB33-7E7B2285B3C2}" srcOrd="0" destOrd="0" presId="urn:microsoft.com/office/officeart/2018/2/layout/IconCircleList"/>
    <dgm:cxn modelId="{F6CB811A-9733-4029-B60E-0B480A0C33EE}" type="presParOf" srcId="{CF34D816-87C2-40B0-B322-31073A7E2C4D}" destId="{D8391CBB-C9B1-478F-B46A-92536215AB43}" srcOrd="1" destOrd="0" presId="urn:microsoft.com/office/officeart/2018/2/layout/IconCircleList"/>
    <dgm:cxn modelId="{690EF41D-FC3A-48BA-B32E-984D5AAB0B0B}" type="presParOf" srcId="{CF34D816-87C2-40B0-B322-31073A7E2C4D}" destId="{09D5C6D4-143F-42AB-908C-4B38D1DD0E66}" srcOrd="2" destOrd="0" presId="urn:microsoft.com/office/officeart/2018/2/layout/IconCircleList"/>
    <dgm:cxn modelId="{7F0C0CF8-2AA7-412C-B8BB-899D625F6395}" type="presParOf" srcId="{CF34D816-87C2-40B0-B322-31073A7E2C4D}" destId="{FC5971DA-399E-44BB-AEA8-647938CF9D42}" srcOrd="3" destOrd="0" presId="urn:microsoft.com/office/officeart/2018/2/layout/IconCircleList"/>
    <dgm:cxn modelId="{42964032-A900-43AD-9466-8B4BC5D3B659}" type="presParOf" srcId="{326FDCF2-F375-4C3F-9814-C84BA9388F92}" destId="{D20D9153-AC41-411A-A22F-8F7557F0FDA5}" srcOrd="5" destOrd="0" presId="urn:microsoft.com/office/officeart/2018/2/layout/IconCircleList"/>
    <dgm:cxn modelId="{1E564FA9-F723-4479-8013-22D1426128B6}" type="presParOf" srcId="{326FDCF2-F375-4C3F-9814-C84BA9388F92}" destId="{BDD20EE1-5DFF-4E16-802C-2448893CCB5A}" srcOrd="6" destOrd="0" presId="urn:microsoft.com/office/officeart/2018/2/layout/IconCircleList"/>
    <dgm:cxn modelId="{794FF77C-CF66-43A6-AFF0-913CEF2D0C2A}" type="presParOf" srcId="{BDD20EE1-5DFF-4E16-802C-2448893CCB5A}" destId="{7089FE6B-57E5-4306-8097-E758E000C828}" srcOrd="0" destOrd="0" presId="urn:microsoft.com/office/officeart/2018/2/layout/IconCircleList"/>
    <dgm:cxn modelId="{091EE8DB-F92B-4CB3-ABD6-FFEB56B07A8B}" type="presParOf" srcId="{BDD20EE1-5DFF-4E16-802C-2448893CCB5A}" destId="{41C0BC0F-FFD5-42B5-B952-9316B9364F6F}" srcOrd="1" destOrd="0" presId="urn:microsoft.com/office/officeart/2018/2/layout/IconCircleList"/>
    <dgm:cxn modelId="{DAE7DE5D-0787-4DCA-83CB-B15B42A3D0EC}" type="presParOf" srcId="{BDD20EE1-5DFF-4E16-802C-2448893CCB5A}" destId="{392FDDC2-BC7A-49BF-88A1-7B4956AD8377}" srcOrd="2" destOrd="0" presId="urn:microsoft.com/office/officeart/2018/2/layout/IconCircleList"/>
    <dgm:cxn modelId="{03A77C2B-16FB-486D-9C1B-3FF393F2E432}" type="presParOf" srcId="{BDD20EE1-5DFF-4E16-802C-2448893CCB5A}" destId="{7703AFE5-FAA2-4D8A-AEFA-D3C5CB41E5BC}" srcOrd="3" destOrd="0" presId="urn:microsoft.com/office/officeart/2018/2/layout/IconCircle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40066-1B2E-4C4E-80A2-97E86ABFA479}">
      <dsp:nvSpPr>
        <dsp:cNvPr id="0" name=""/>
        <dsp:cNvSpPr/>
      </dsp:nvSpPr>
      <dsp:spPr>
        <a:xfrm>
          <a:off x="129313" y="735315"/>
          <a:ext cx="779074" cy="7790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5B2F71-E638-412C-8147-FC7081E08B04}">
      <dsp:nvSpPr>
        <dsp:cNvPr id="0" name=""/>
        <dsp:cNvSpPr/>
      </dsp:nvSpPr>
      <dsp:spPr>
        <a:xfrm>
          <a:off x="292918" y="898921"/>
          <a:ext cx="451863" cy="4518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05AF25A-E676-44EA-BB66-F2100ACAD1CB}">
      <dsp:nvSpPr>
        <dsp:cNvPr id="0" name=""/>
        <dsp:cNvSpPr/>
      </dsp:nvSpPr>
      <dsp:spPr>
        <a:xfrm>
          <a:off x="1075332" y="735315"/>
          <a:ext cx="1836390" cy="779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dirty="0"/>
            <a:t>Machine Language</a:t>
          </a:r>
        </a:p>
      </dsp:txBody>
      <dsp:txXfrm>
        <a:off x="1075332" y="735315"/>
        <a:ext cx="1836390" cy="779074"/>
      </dsp:txXfrm>
    </dsp:sp>
    <dsp:sp modelId="{75512A68-FA50-4392-A441-C6EC352FE606}">
      <dsp:nvSpPr>
        <dsp:cNvPr id="0" name=""/>
        <dsp:cNvSpPr/>
      </dsp:nvSpPr>
      <dsp:spPr>
        <a:xfrm>
          <a:off x="3231700" y="735315"/>
          <a:ext cx="779074" cy="7790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25A8E1-258A-4D4B-9D55-24376C0AB360}">
      <dsp:nvSpPr>
        <dsp:cNvPr id="0" name=""/>
        <dsp:cNvSpPr/>
      </dsp:nvSpPr>
      <dsp:spPr>
        <a:xfrm>
          <a:off x="3395305" y="898921"/>
          <a:ext cx="451863" cy="451863"/>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23C7F31-A7C1-43C9-AE27-AAE9100EE1FE}">
      <dsp:nvSpPr>
        <dsp:cNvPr id="0" name=""/>
        <dsp:cNvSpPr/>
      </dsp:nvSpPr>
      <dsp:spPr>
        <a:xfrm>
          <a:off x="4177719" y="735315"/>
          <a:ext cx="1836390" cy="779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dirty="0"/>
            <a:t>Hand </a:t>
          </a:r>
          <a:r>
            <a:rPr lang="en-US" sz="2300" kern="1200"/>
            <a:t>Gesture Recognition</a:t>
          </a:r>
          <a:endParaRPr lang="en-US" sz="2300" kern="1200" dirty="0"/>
        </a:p>
      </dsp:txBody>
      <dsp:txXfrm>
        <a:off x="4177719" y="735315"/>
        <a:ext cx="1836390" cy="779074"/>
      </dsp:txXfrm>
    </dsp:sp>
    <dsp:sp modelId="{A739558E-11BD-4F42-AB33-7E7B2285B3C2}">
      <dsp:nvSpPr>
        <dsp:cNvPr id="0" name=""/>
        <dsp:cNvSpPr/>
      </dsp:nvSpPr>
      <dsp:spPr>
        <a:xfrm>
          <a:off x="129313" y="2134742"/>
          <a:ext cx="779074" cy="7790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391CBB-C9B1-478F-B46A-92536215AB43}">
      <dsp:nvSpPr>
        <dsp:cNvPr id="0" name=""/>
        <dsp:cNvSpPr/>
      </dsp:nvSpPr>
      <dsp:spPr>
        <a:xfrm>
          <a:off x="292918" y="2298348"/>
          <a:ext cx="451863" cy="451863"/>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5971DA-399E-44BB-AEA8-647938CF9D42}">
      <dsp:nvSpPr>
        <dsp:cNvPr id="0" name=""/>
        <dsp:cNvSpPr/>
      </dsp:nvSpPr>
      <dsp:spPr>
        <a:xfrm>
          <a:off x="1075332" y="2134742"/>
          <a:ext cx="1836390" cy="779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dirty="0"/>
            <a:t>Graphical Representation</a:t>
          </a:r>
        </a:p>
      </dsp:txBody>
      <dsp:txXfrm>
        <a:off x="1075332" y="2134742"/>
        <a:ext cx="1836390" cy="779074"/>
      </dsp:txXfrm>
    </dsp:sp>
    <dsp:sp modelId="{7089FE6B-57E5-4306-8097-E758E000C828}">
      <dsp:nvSpPr>
        <dsp:cNvPr id="0" name=""/>
        <dsp:cNvSpPr/>
      </dsp:nvSpPr>
      <dsp:spPr>
        <a:xfrm>
          <a:off x="3231700" y="2134742"/>
          <a:ext cx="779074" cy="7790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C0BC0F-FFD5-42B5-B952-9316B9364F6F}">
      <dsp:nvSpPr>
        <dsp:cNvPr id="0" name=""/>
        <dsp:cNvSpPr/>
      </dsp:nvSpPr>
      <dsp:spPr>
        <a:xfrm>
          <a:off x="3395305" y="2298348"/>
          <a:ext cx="451863" cy="451863"/>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703AFE5-FAA2-4D8A-AEFA-D3C5CB41E5BC}">
      <dsp:nvSpPr>
        <dsp:cNvPr id="0" name=""/>
        <dsp:cNvSpPr/>
      </dsp:nvSpPr>
      <dsp:spPr>
        <a:xfrm>
          <a:off x="4177719" y="2134742"/>
          <a:ext cx="1836390" cy="779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US" sz="2300" kern="1200" dirty="0"/>
            <a:t>Print Prediction</a:t>
          </a:r>
        </a:p>
      </dsp:txBody>
      <dsp:txXfrm>
        <a:off x="4177719" y="2134742"/>
        <a:ext cx="1836390" cy="77907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D81A9-CFC2-4640-899E-DD3E177BE50A}" type="datetimeFigureOut">
              <a:rPr lang="en-US" smtClean="0"/>
              <a:t>1/1/2026</a:t>
            </a:fld>
            <a:endParaRPr lang="en-US" dirty="0"/>
          </a:p>
        </p:txBody>
      </p:sp>
      <p:sp>
        <p:nvSpPr>
          <p:cNvPr id="4" name="Footer Placeholder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C605DA-80A8-4B7B-B889-6C5700BB4CEA}" type="slidenum">
              <a:rPr lang="en-US" smtClean="0"/>
              <a:t>‹#›</a:t>
            </a:fld>
            <a:endParaRPr lang="en-US" dirty="0"/>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E50F4-C55A-473A-A70B-4B042EF011A9}" type="datetimeFigureOut">
              <a:rPr lang="en-US" smtClean="0"/>
              <a:t>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44625-0ADF-4414-89A2-9E135F0C849F}" type="slidenum">
              <a:rPr lang="en-US" smtClean="0"/>
              <a:t>‹#›</a:t>
            </a:fld>
            <a:endParaRPr lang="en-US" dirty="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dirty="0"/>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a:t>
            </a:fld>
            <a:endParaRPr lang="en-US" dirty="0"/>
          </a:p>
        </p:txBody>
      </p:sp>
    </p:spTree>
    <p:extLst>
      <p:ext uri="{BB962C8B-B14F-4D97-AF65-F5344CB8AC3E}">
        <p14:creationId xmlns:p14="http://schemas.microsoft.com/office/powerpoint/2010/main" val="163665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a:t>
            </a:fld>
            <a:endParaRPr lang="en-US" dirty="0"/>
          </a:p>
        </p:txBody>
      </p:sp>
    </p:spTree>
    <p:extLst>
      <p:ext uri="{BB962C8B-B14F-4D97-AF65-F5344CB8AC3E}">
        <p14:creationId xmlns:p14="http://schemas.microsoft.com/office/powerpoint/2010/main" val="724031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14</a:t>
            </a:fld>
            <a:endParaRPr lang="en-US" dirty="0"/>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7DE6118-2437-4B30-8E3C-4D2BE6020583}" type="datetimeFigureOut">
              <a:rPr lang="en-US" smtClean="0"/>
              <a:pPr/>
              <a:t>1/1/2026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7DE6118-2437-4B30-8E3C-4D2BE6020583}" type="datetimeFigureOut">
              <a:rPr lang="en-US" smtClean="0"/>
              <a:t>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DE6118-2437-4B30-8E3C-4D2BE6020583}" type="datetimeFigureOut">
              <a:rPr lang="en-US" smtClean="0"/>
              <a:pPr/>
              <a:t>1/1/2026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jpeg"/><Relationship Id="rId7" Type="http://schemas.openxmlformats.org/officeDocument/2006/relationships/diagramLayout" Target="../diagrams/layout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6.jpg"/><Relationship Id="rId10" Type="http://schemas.microsoft.com/office/2007/relationships/diagramDrawing" Target="../diagrams/drawing1.xml"/><Relationship Id="rId4" Type="http://schemas.openxmlformats.org/officeDocument/2006/relationships/image" Target="../media/image5.jpg"/><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ight sky with mountains far away on the horizon">
            <a:extLst>
              <a:ext uri="{FF2B5EF4-FFF2-40B4-BE49-F238E27FC236}">
                <a16:creationId xmlns:a16="http://schemas.microsoft.com/office/drawing/2014/main" id="{7C454B0C-0819-4D56-9275-BCE254DA659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40C7600-5BA8-4A54-887F-74AF87750A31}"/>
              </a:ext>
            </a:extLst>
          </p:cNvPr>
          <p:cNvSpPr>
            <a:spLocks noGrp="1"/>
          </p:cNvSpPr>
          <p:nvPr>
            <p:ph type="ctrTitle"/>
          </p:nvPr>
        </p:nvSpPr>
        <p:spPr>
          <a:xfrm>
            <a:off x="3962399" y="2554817"/>
            <a:ext cx="7197726" cy="2421464"/>
          </a:xfrm>
        </p:spPr>
        <p:txBody>
          <a:bodyPr>
            <a:normAutofit/>
          </a:bodyPr>
          <a:lstStyle/>
          <a:p>
            <a:r>
              <a:rPr lang="en-US" b="1" dirty="0"/>
              <a:t>Diabetes detection</a:t>
            </a:r>
          </a:p>
        </p:txBody>
      </p:sp>
      <p:sp>
        <p:nvSpPr>
          <p:cNvPr id="3" name="Subtitle 2">
            <a:extLst>
              <a:ext uri="{FF2B5EF4-FFF2-40B4-BE49-F238E27FC236}">
                <a16:creationId xmlns:a16="http://schemas.microsoft.com/office/drawing/2014/main" id="{AE584786-6548-4BB4-95FD-977AD1F362C6}"/>
              </a:ext>
            </a:extLst>
          </p:cNvPr>
          <p:cNvSpPr>
            <a:spLocks noGrp="1"/>
          </p:cNvSpPr>
          <p:nvPr>
            <p:ph type="subTitle" idx="1"/>
          </p:nvPr>
        </p:nvSpPr>
        <p:spPr>
          <a:xfrm>
            <a:off x="3962399" y="4976282"/>
            <a:ext cx="7197726" cy="1405467"/>
          </a:xfrm>
        </p:spPr>
        <p:txBody>
          <a:bodyPr>
            <a:normAutofit/>
          </a:bodyPr>
          <a:lstStyle/>
          <a:p>
            <a:r>
              <a:rPr lang="en-US" dirty="0">
                <a:solidFill>
                  <a:schemeClr val="accent1">
                    <a:lumMod val="40000"/>
                    <a:lumOff val="60000"/>
                  </a:schemeClr>
                </a:solidFill>
              </a:rPr>
              <a:t>-Supratim </a:t>
            </a:r>
            <a:r>
              <a:rPr lang="en-US" dirty="0" err="1">
                <a:solidFill>
                  <a:schemeClr val="accent1">
                    <a:lumMod val="40000"/>
                    <a:lumOff val="60000"/>
                  </a:schemeClr>
                </a:solidFill>
              </a:rPr>
              <a:t>kukri,ece</a:t>
            </a:r>
            <a:r>
              <a:rPr lang="en-US" dirty="0">
                <a:solidFill>
                  <a:schemeClr val="accent1">
                    <a:lumMod val="40000"/>
                    <a:lumOff val="60000"/>
                  </a:schemeClr>
                </a:solidFill>
              </a:rPr>
              <a:t> under-grad at nit </a:t>
            </a:r>
            <a:r>
              <a:rPr lang="en-US" dirty="0" err="1">
                <a:solidFill>
                  <a:schemeClr val="accent1">
                    <a:lumMod val="40000"/>
                    <a:lumOff val="60000"/>
                  </a:schemeClr>
                </a:solidFill>
              </a:rPr>
              <a:t>dgp</a:t>
            </a:r>
            <a:endParaRPr lang="en-US" dirty="0">
              <a:solidFill>
                <a:schemeClr val="accent1">
                  <a:lumMod val="40000"/>
                  <a:lumOff val="60000"/>
                </a:schemeClr>
              </a:solidFill>
            </a:endParaRPr>
          </a:p>
        </p:txBody>
      </p:sp>
    </p:spTree>
    <p:extLst>
      <p:ext uri="{BB962C8B-B14F-4D97-AF65-F5344CB8AC3E}">
        <p14:creationId xmlns:p14="http://schemas.microsoft.com/office/powerpoint/2010/main" val="3417721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6143423" cy="1456267"/>
          </a:xfrm>
        </p:spPr>
        <p:txBody>
          <a:bodyPr>
            <a:normAutofit/>
          </a:bodyPr>
          <a:lstStyle/>
          <a:p>
            <a:r>
              <a:rPr lang="en-US" dirty="0"/>
              <a:t>Features of my project</a:t>
            </a:r>
            <a:endParaRPr lang="ru-RU" dirty="0"/>
          </a:p>
        </p:txBody>
      </p:sp>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4"/>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grpSp>
        <p:nvGrpSpPr>
          <p:cNvPr id="179" name="Group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reeform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1" name="Group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Straight Connector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oup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reeform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3" name="Group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Straight Connector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5"/>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graphicFrame>
        <p:nvGraphicFramePr>
          <p:cNvPr id="5" name="Content Placeholder 4" descr="SmartArt graphic">
            <a:extLst>
              <a:ext uri="{FF2B5EF4-FFF2-40B4-BE49-F238E27FC236}">
                <a16:creationId xmlns:a16="http://schemas.microsoft.com/office/drawing/2014/main" id="{C983627E-F26C-354F-BF0A-ECCD7E968A2B}"/>
              </a:ext>
            </a:extLst>
          </p:cNvPr>
          <p:cNvGraphicFramePr>
            <a:graphicFrameLocks noGrp="1"/>
          </p:cNvGraphicFramePr>
          <p:nvPr>
            <p:ph idx="1"/>
            <p:extLst>
              <p:ext uri="{D42A27DB-BD31-4B8C-83A1-F6EECF244321}">
                <p14:modId xmlns:p14="http://schemas.microsoft.com/office/powerpoint/2010/main" val="789878963"/>
              </p:ext>
            </p:extLst>
          </p:nvPr>
        </p:nvGraphicFramePr>
        <p:xfrm>
          <a:off x="685801" y="2142067"/>
          <a:ext cx="6143423" cy="364913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913824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652B-B439-4AB5-8773-417F1E05177E}"/>
              </a:ext>
            </a:extLst>
          </p:cNvPr>
          <p:cNvSpPr>
            <a:spLocks noGrp="1"/>
          </p:cNvSpPr>
          <p:nvPr>
            <p:ph type="title"/>
          </p:nvPr>
        </p:nvSpPr>
        <p:spPr>
          <a:xfrm>
            <a:off x="1155855" y="0"/>
            <a:ext cx="8554473" cy="1456267"/>
          </a:xfrm>
        </p:spPr>
        <p:txBody>
          <a:bodyPr/>
          <a:lstStyle/>
          <a:p>
            <a:r>
              <a:rPr lang="en-US" b="1" i="1" u="sng" dirty="0"/>
              <a:t>ABOUT THE TOPIC- “DIABETES DETECTION”</a:t>
            </a:r>
          </a:p>
        </p:txBody>
      </p:sp>
      <p:sp>
        <p:nvSpPr>
          <p:cNvPr id="15" name="Rectangle 7">
            <a:extLst>
              <a:ext uri="{FF2B5EF4-FFF2-40B4-BE49-F238E27FC236}">
                <a16:creationId xmlns:a16="http://schemas.microsoft.com/office/drawing/2014/main" id="{867C07F3-420A-4D8D-9515-56B9EFBC0BA5}"/>
              </a:ext>
            </a:extLst>
          </p:cNvPr>
          <p:cNvSpPr>
            <a:spLocks noGrp="1" noChangeArrowheads="1"/>
          </p:cNvSpPr>
          <p:nvPr>
            <p:ph idx="1"/>
          </p:nvPr>
        </p:nvSpPr>
        <p:spPr bwMode="auto">
          <a:xfrm>
            <a:off x="361080" y="1259138"/>
            <a:ext cx="1091837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Diabetes Detection</a:t>
            </a:r>
            <a:r>
              <a:rPr kumimoji="0" lang="en-US" altLang="en-US" sz="1800" b="0" i="0" u="none" strike="noStrike" cap="none" normalizeH="0" baseline="0" dirty="0">
                <a:ln>
                  <a:noFill/>
                </a:ln>
                <a:solidFill>
                  <a:schemeClr val="tx1"/>
                </a:solidFill>
                <a:effectLst/>
                <a:latin typeface="Arial" panose="020B0604020202020204" pitchFamily="34" charset="0"/>
              </a:rPr>
              <a:t> is a critical field in modern healthcare that leverages medical data and technology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to identify individuals at risk of or currently living with diabetes. Early detection is vital because prolonged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high blood sugar levels can lead to severe complications, including heart disease, kidney failure, 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permanent vision loss.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9">
            <a:extLst>
              <a:ext uri="{FF2B5EF4-FFF2-40B4-BE49-F238E27FC236}">
                <a16:creationId xmlns:a16="http://schemas.microsoft.com/office/drawing/2014/main" id="{33DD200D-3044-5FE7-49DB-FDCE49EF375C}"/>
              </a:ext>
            </a:extLst>
          </p:cNvPr>
          <p:cNvSpPr>
            <a:spLocks noChangeArrowheads="1"/>
          </p:cNvSpPr>
          <p:nvPr/>
        </p:nvSpPr>
        <p:spPr bwMode="auto">
          <a:xfrm>
            <a:off x="361080" y="2730340"/>
            <a:ext cx="1090446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 recent years, AI has revolutionized diabetes detection by identifying patterns in patient data that might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be invisible to the human eye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Predictive Modeling:</a:t>
            </a:r>
            <a:r>
              <a:rPr kumimoji="0" lang="en-US" altLang="en-US" sz="1800" b="0" i="0" u="none" strike="noStrike" cap="none" normalizeH="0" baseline="0" dirty="0">
                <a:ln>
                  <a:noFill/>
                </a:ln>
                <a:solidFill>
                  <a:schemeClr val="tx1"/>
                </a:solidFill>
                <a:effectLst/>
                <a:latin typeface="Arial" panose="020B0604020202020204" pitchFamily="34" charset="0"/>
              </a:rPr>
              <a:t> Algorithms like </a:t>
            </a:r>
            <a:r>
              <a:rPr kumimoji="0" lang="en-US" altLang="en-US" sz="1800" b="1"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Random Forest</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Neural Networks</a:t>
            </a:r>
            <a:r>
              <a:rPr kumimoji="0" lang="en-US" altLang="en-US" sz="1800" b="0" i="0" u="none" strike="noStrike" cap="none" normalizeH="0" baseline="0" dirty="0">
                <a:ln>
                  <a:noFill/>
                </a:ln>
                <a:solidFill>
                  <a:schemeClr val="tx1"/>
                </a:solidFill>
                <a:effectLst/>
                <a:latin typeface="Arial" panose="020B0604020202020204" pitchFamily="34" charset="0"/>
              </a:rPr>
              <a:t> can analyze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h</a:t>
            </a:r>
            <a:r>
              <a:rPr kumimoji="0" lang="en-US" altLang="en-US" sz="1800" b="0" i="0" u="none" strike="noStrike" cap="none" normalizeH="0" baseline="0" dirty="0">
                <a:ln>
                  <a:noFill/>
                </a:ln>
                <a:solidFill>
                  <a:schemeClr val="tx1"/>
                </a:solidFill>
                <a:effectLst/>
                <a:latin typeface="Arial" panose="020B0604020202020204" pitchFamily="34" charset="0"/>
              </a:rPr>
              <a:t>istorical health records to predict the likelihood of a patient developing diabetes.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Non-Invasive Testing:</a:t>
            </a:r>
            <a:r>
              <a:rPr kumimoji="0" lang="en-US" altLang="en-US" sz="1800" b="0" i="0" u="none" strike="noStrike" cap="none" normalizeH="0" baseline="0" dirty="0">
                <a:ln>
                  <a:noFill/>
                </a:ln>
                <a:solidFill>
                  <a:schemeClr val="tx1"/>
                </a:solidFill>
                <a:effectLst/>
                <a:latin typeface="Arial" panose="020B0604020202020204" pitchFamily="34" charset="0"/>
              </a:rPr>
              <a:t> New technologies are being developed to detect diabetes through retinal scans,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skin sensors, or even vocal patterns, reducing the need for painful blood pricks.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Continuous Monitoring:</a:t>
            </a:r>
            <a:r>
              <a:rPr kumimoji="0" lang="en-US" altLang="en-US" sz="1800" b="0" i="0" u="none" strike="noStrike" cap="none" normalizeH="0" baseline="0" dirty="0">
                <a:ln>
                  <a:noFill/>
                </a:ln>
                <a:solidFill>
                  <a:schemeClr val="tx1"/>
                </a:solidFill>
                <a:effectLst/>
                <a:latin typeface="Arial" panose="020B0604020202020204" pitchFamily="34" charset="0"/>
              </a:rPr>
              <a:t> Wearable devices (like Continuous Glucose Monitors) provide real-time data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s</a:t>
            </a:r>
            <a:r>
              <a:rPr kumimoji="0" lang="en-US" altLang="en-US" sz="1800" b="0" i="0" u="none" strike="noStrike" cap="none" normalizeH="0" baseline="0" dirty="0">
                <a:ln>
                  <a:noFill/>
                </a:ln>
                <a:solidFill>
                  <a:schemeClr val="tx1"/>
                </a:solidFill>
                <a:effectLst/>
                <a:latin typeface="Arial" panose="020B0604020202020204" pitchFamily="34" charset="0"/>
              </a:rPr>
              <a:t>treams</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that AI can analyze to alert patients of dangerous spikes before they happen.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29390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6EA0-3F13-24A9-75F6-C5E7D1E6B025}"/>
              </a:ext>
            </a:extLst>
          </p:cNvPr>
          <p:cNvSpPr>
            <a:spLocks noGrp="1"/>
          </p:cNvSpPr>
          <p:nvPr>
            <p:ph type="title"/>
          </p:nvPr>
        </p:nvSpPr>
        <p:spPr/>
        <p:txBody>
          <a:bodyPr/>
          <a:lstStyle/>
          <a:p>
            <a:r>
              <a:rPr lang="en-US" dirty="0"/>
              <a:t>Models used  in my project:</a:t>
            </a:r>
            <a:endParaRPr lang="en-IN" dirty="0"/>
          </a:p>
        </p:txBody>
      </p:sp>
      <p:sp>
        <p:nvSpPr>
          <p:cNvPr id="3" name="Content Placeholder 2">
            <a:extLst>
              <a:ext uri="{FF2B5EF4-FFF2-40B4-BE49-F238E27FC236}">
                <a16:creationId xmlns:a16="http://schemas.microsoft.com/office/drawing/2014/main" id="{07D4417D-BF6A-B432-1F8B-67D4E620AF37}"/>
              </a:ext>
            </a:extLst>
          </p:cNvPr>
          <p:cNvSpPr>
            <a:spLocks noGrp="1"/>
          </p:cNvSpPr>
          <p:nvPr>
            <p:ph idx="1"/>
          </p:nvPr>
        </p:nvSpPr>
        <p:spPr>
          <a:xfrm>
            <a:off x="685800" y="952364"/>
            <a:ext cx="10131425" cy="3649133"/>
          </a:xfrm>
        </p:spPr>
        <p:txBody>
          <a:bodyPr>
            <a:normAutofit/>
          </a:bodyPr>
          <a:lstStyle/>
          <a:p>
            <a:pPr>
              <a:buFont typeface="Wingdings" panose="05000000000000000000" pitchFamily="2" charset="2"/>
              <a:buChar char="q"/>
            </a:pPr>
            <a:r>
              <a:rPr lang="en-US" sz="2000" dirty="0" err="1">
                <a:latin typeface="Cascadia Code SemiLight" panose="020B0609020000020004" pitchFamily="49" charset="0"/>
                <a:cs typeface="Cascadia Code SemiLight" panose="020B0609020000020004" pitchFamily="49" charset="0"/>
              </a:rPr>
              <a:t>XGBoost</a:t>
            </a:r>
            <a:r>
              <a:rPr lang="en-US" sz="2000" dirty="0">
                <a:latin typeface="Cascadia Code SemiLight" panose="020B0609020000020004" pitchFamily="49" charset="0"/>
                <a:cs typeface="Cascadia Code SemiLight" panose="020B0609020000020004" pitchFamily="49" charset="0"/>
              </a:rPr>
              <a:t> as the Machine-Language model to train my </a:t>
            </a:r>
            <a:r>
              <a:rPr lang="en-US" sz="2000" dirty="0" err="1">
                <a:latin typeface="Cascadia Code SemiLight" panose="020B0609020000020004" pitchFamily="49" charset="0"/>
                <a:cs typeface="Cascadia Code SemiLight" panose="020B0609020000020004" pitchFamily="49" charset="0"/>
              </a:rPr>
              <a:t>DataSet</a:t>
            </a:r>
            <a:r>
              <a:rPr lang="en-US" sz="2000" dirty="0">
                <a:latin typeface="Cascadia Code SemiLight" panose="020B0609020000020004" pitchFamily="49" charset="0"/>
                <a:cs typeface="Cascadia Code SemiLight" panose="020B0609020000020004" pitchFamily="49" charset="0"/>
              </a:rPr>
              <a:t>(Pima Indians Diabetes Database from </a:t>
            </a:r>
            <a:r>
              <a:rPr lang="en-US" sz="2000" dirty="0" err="1">
                <a:latin typeface="Cascadia Code SemiLight" panose="020B0609020000020004" pitchFamily="49" charset="0"/>
                <a:cs typeface="Cascadia Code SemiLight" panose="020B0609020000020004" pitchFamily="49" charset="0"/>
              </a:rPr>
              <a:t>kage</a:t>
            </a:r>
            <a:r>
              <a:rPr lang="en-US" sz="2000" dirty="0">
                <a:latin typeface="Cascadia Code SemiLight" panose="020B0609020000020004" pitchFamily="49" charset="0"/>
                <a:cs typeface="Cascadia Code SemiLight" panose="020B0609020000020004" pitchFamily="49" charset="0"/>
              </a:rPr>
              <a:t>)</a:t>
            </a:r>
          </a:p>
          <a:p>
            <a:pPr>
              <a:buFont typeface="Wingdings" panose="05000000000000000000" pitchFamily="2" charset="2"/>
              <a:buChar char="q"/>
            </a:pPr>
            <a:r>
              <a:rPr lang="en-US" sz="2000" dirty="0" err="1">
                <a:latin typeface="Cascadia Code SemiLight" panose="020B0609020000020004" pitchFamily="49" charset="0"/>
                <a:cs typeface="Cascadia Code SemiLight" panose="020B0609020000020004" pitchFamily="49" charset="0"/>
              </a:rPr>
              <a:t>Keras.Sequential</a:t>
            </a:r>
            <a:r>
              <a:rPr lang="en-US" sz="2000" dirty="0">
                <a:latin typeface="Cascadia Code SemiLight" panose="020B0609020000020004" pitchFamily="49" charset="0"/>
                <a:cs typeface="Cascadia Code SemiLight" panose="020B0609020000020004" pitchFamily="49" charset="0"/>
              </a:rPr>
              <a:t> model to train my Hand Gesture dataset</a:t>
            </a:r>
            <a:endParaRPr lang="en-IN" sz="2000" dirty="0">
              <a:latin typeface="Cascadia Code SemiLight" panose="020B0609020000020004" pitchFamily="49" charset="0"/>
              <a:cs typeface="Cascadia Code SemiLight" panose="020B0609020000020004" pitchFamily="49" charset="0"/>
            </a:endParaRPr>
          </a:p>
        </p:txBody>
      </p:sp>
    </p:spTree>
    <p:extLst>
      <p:ext uri="{BB962C8B-B14F-4D97-AF65-F5344CB8AC3E}">
        <p14:creationId xmlns:p14="http://schemas.microsoft.com/office/powerpoint/2010/main" val="149769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017F-2860-6B4E-47D1-435555367056}"/>
              </a:ext>
            </a:extLst>
          </p:cNvPr>
          <p:cNvSpPr>
            <a:spLocks noGrp="1"/>
          </p:cNvSpPr>
          <p:nvPr>
            <p:ph type="title"/>
          </p:nvPr>
        </p:nvSpPr>
        <p:spPr>
          <a:xfrm>
            <a:off x="685801" y="39329"/>
            <a:ext cx="10131425" cy="1456267"/>
          </a:xfrm>
        </p:spPr>
        <p:txBody>
          <a:bodyPr/>
          <a:lstStyle/>
          <a:p>
            <a:r>
              <a:rPr lang="en-US" dirty="0"/>
              <a:t> 							Steps of project</a:t>
            </a:r>
            <a:endParaRPr lang="en-IN" dirty="0"/>
          </a:p>
        </p:txBody>
      </p:sp>
      <p:sp>
        <p:nvSpPr>
          <p:cNvPr id="3" name="Content Placeholder 2">
            <a:extLst>
              <a:ext uri="{FF2B5EF4-FFF2-40B4-BE49-F238E27FC236}">
                <a16:creationId xmlns:a16="http://schemas.microsoft.com/office/drawing/2014/main" id="{D50E2A45-3DF1-0EC8-84C8-E2C3167B2D08}"/>
              </a:ext>
            </a:extLst>
          </p:cNvPr>
          <p:cNvSpPr>
            <a:spLocks noGrp="1"/>
          </p:cNvSpPr>
          <p:nvPr>
            <p:ph idx="1"/>
          </p:nvPr>
        </p:nvSpPr>
        <p:spPr>
          <a:xfrm>
            <a:off x="607143" y="1495596"/>
            <a:ext cx="11398044" cy="5094475"/>
          </a:xfrm>
        </p:spPr>
        <p:txBody>
          <a:bodyPr>
            <a:normAutofit/>
          </a:bodyPr>
          <a:lstStyle/>
          <a:p>
            <a:pPr>
              <a:buFont typeface="Wingdings" panose="05000000000000000000" pitchFamily="2" charset="2"/>
              <a:buChar char="Ø"/>
            </a:pPr>
            <a:r>
              <a:rPr lang="en-US" dirty="0"/>
              <a:t> Download Pima Indian Diabetes Database from kaggle.com/datasets</a:t>
            </a:r>
          </a:p>
          <a:p>
            <a:pPr>
              <a:buFont typeface="Wingdings" panose="05000000000000000000" pitchFamily="2" charset="2"/>
              <a:buChar char="Ø"/>
            </a:pPr>
            <a:r>
              <a:rPr lang="en-US" dirty="0"/>
              <a:t>Make a python file in the model directory and train it with the dataset and save the model and scale in pickle format.</a:t>
            </a:r>
          </a:p>
          <a:p>
            <a:pPr>
              <a:buFont typeface="Wingdings" panose="05000000000000000000" pitchFamily="2" charset="2"/>
              <a:buChar char="Ø"/>
            </a:pPr>
            <a:r>
              <a:rPr lang="en-IN" dirty="0"/>
              <a:t>Make another directory for training the Hand Gesture model.</a:t>
            </a:r>
          </a:p>
          <a:p>
            <a:pPr>
              <a:buFont typeface="Wingdings" panose="05000000000000000000" pitchFamily="2" charset="2"/>
              <a:buChar char="Ø"/>
            </a:pPr>
            <a:r>
              <a:rPr lang="en-IN" dirty="0"/>
              <a:t>Make a python file for Data collection using </a:t>
            </a:r>
            <a:r>
              <a:rPr lang="en-IN" dirty="0" err="1"/>
              <a:t>opencv</a:t>
            </a:r>
            <a:r>
              <a:rPr lang="en-IN" dirty="0"/>
              <a:t> ,</a:t>
            </a:r>
            <a:r>
              <a:rPr lang="en-IN" dirty="0" err="1"/>
              <a:t>tensorflow</a:t>
            </a:r>
            <a:r>
              <a:rPr lang="en-IN" dirty="0"/>
              <a:t> and csv.</a:t>
            </a:r>
          </a:p>
          <a:p>
            <a:pPr>
              <a:buFont typeface="Wingdings" panose="05000000000000000000" pitchFamily="2" charset="2"/>
              <a:buChar char="Ø"/>
            </a:pPr>
            <a:r>
              <a:rPr lang="en-IN" dirty="0"/>
              <a:t>Taking input of the label and the absolute position of the grid points ,convert it into relative and hence create data by scaling and henceforth save the data with label inside a csv file.</a:t>
            </a:r>
          </a:p>
          <a:p>
            <a:pPr>
              <a:buFont typeface="Wingdings" panose="05000000000000000000" pitchFamily="2" charset="2"/>
              <a:buChar char="Ø"/>
            </a:pPr>
            <a:r>
              <a:rPr lang="en-IN" dirty="0"/>
              <a:t>Make a file in the same directory for training the model.</a:t>
            </a:r>
          </a:p>
          <a:p>
            <a:pPr>
              <a:buFont typeface="Wingdings" panose="05000000000000000000" pitchFamily="2" charset="2"/>
              <a:buChar char="Ø"/>
            </a:pPr>
            <a:r>
              <a:rPr lang="en-IN" dirty="0"/>
              <a:t>Input the csv file and train the model with </a:t>
            </a:r>
            <a:r>
              <a:rPr lang="en-IN" dirty="0" err="1"/>
              <a:t>keras.Sequential</a:t>
            </a:r>
            <a:r>
              <a:rPr lang="en-IN" dirty="0"/>
              <a:t> and save the model as </a:t>
            </a:r>
            <a:r>
              <a:rPr lang="en-IN" dirty="0" err="1"/>
              <a:t>keras</a:t>
            </a:r>
            <a:r>
              <a:rPr lang="en-IN" dirty="0"/>
              <a:t> file.</a:t>
            </a:r>
          </a:p>
          <a:p>
            <a:pPr>
              <a:buFont typeface="Wingdings" panose="05000000000000000000" pitchFamily="2" charset="2"/>
              <a:buChar char="Ø"/>
            </a:pPr>
            <a:r>
              <a:rPr lang="en-IN" dirty="0"/>
              <a:t>Make another directory as server where our main </a:t>
            </a:r>
            <a:r>
              <a:rPr lang="en-IN" dirty="0" err="1"/>
              <a:t>Streamlit</a:t>
            </a:r>
            <a:r>
              <a:rPr lang="en-IN" dirty="0"/>
              <a:t> file Detection.py will be stored.</a:t>
            </a:r>
          </a:p>
          <a:p>
            <a:pPr>
              <a:buFont typeface="Wingdings" panose="05000000000000000000" pitchFamily="2" charset="2"/>
              <a:buChar char="Ø"/>
            </a:pPr>
            <a:r>
              <a:rPr lang="en-IN" dirty="0"/>
              <a:t>Make a </a:t>
            </a:r>
            <a:r>
              <a:rPr lang="en-IN" dirty="0" err="1"/>
              <a:t>Logic_file</a:t>
            </a:r>
            <a:r>
              <a:rPr lang="en-IN" dirty="0"/>
              <a:t> to store every functions related to diabetes detection like storing the user </a:t>
            </a:r>
            <a:r>
              <a:rPr lang="en-IN" dirty="0" err="1"/>
              <a:t>input,display</a:t>
            </a:r>
            <a:r>
              <a:rPr lang="en-IN" dirty="0"/>
              <a:t> </a:t>
            </a:r>
            <a:r>
              <a:rPr lang="en-IN" dirty="0" err="1"/>
              <a:t>graph,download</a:t>
            </a:r>
            <a:r>
              <a:rPr lang="en-IN" dirty="0"/>
              <a:t> the user given inputs with prediction and graphs etc.</a:t>
            </a:r>
          </a:p>
          <a:p>
            <a:pPr>
              <a:buFont typeface="Wingdings" panose="05000000000000000000" pitchFamily="2" charset="2"/>
              <a:buChar char="Ø"/>
            </a:pPr>
            <a:r>
              <a:rPr lang="en-IN" dirty="0"/>
              <a:t>In the detection file implement the Locking of app and other functions of the app.</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1125781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DE1D1-988A-9FBD-FB11-B29112D0D2D5}"/>
              </a:ext>
            </a:extLst>
          </p:cNvPr>
          <p:cNvSpPr>
            <a:spLocks noGrp="1"/>
          </p:cNvSpPr>
          <p:nvPr>
            <p:ph type="title"/>
          </p:nvPr>
        </p:nvSpPr>
        <p:spPr>
          <a:xfrm>
            <a:off x="471948" y="609600"/>
            <a:ext cx="4139382" cy="5810865"/>
          </a:xfrm>
        </p:spPr>
        <p:txBody>
          <a:bodyPr/>
          <a:lstStyle/>
          <a:p>
            <a:r>
              <a:rPr lang="en-US" b="1" dirty="0">
                <a:latin typeface="Arial Rounded MT Bold" panose="020F0704030504030204" pitchFamily="34" charset="0"/>
              </a:rPr>
              <a:t>A outlook of my</a:t>
            </a:r>
            <a:br>
              <a:rPr lang="en-US" b="1" dirty="0">
                <a:latin typeface="Arial Rounded MT Bold" panose="020F0704030504030204" pitchFamily="34" charset="0"/>
              </a:rPr>
            </a:br>
            <a:r>
              <a:rPr lang="en-US" b="1" dirty="0">
                <a:latin typeface="Arial Rounded MT Bold" panose="020F0704030504030204" pitchFamily="34" charset="0"/>
              </a:rPr>
              <a:t>directory</a:t>
            </a:r>
            <a:endParaRPr lang="en-IN" b="1" dirty="0">
              <a:latin typeface="Arial Rounded MT Bold" panose="020F0704030504030204" pitchFamily="34" charset="0"/>
            </a:endParaRPr>
          </a:p>
        </p:txBody>
      </p:sp>
      <p:pic>
        <p:nvPicPr>
          <p:cNvPr id="5" name="Content Placeholder 4" descr="A computer monitor with a black screen&#10;&#10;AI-generated content may be incorrect.">
            <a:extLst>
              <a:ext uri="{FF2B5EF4-FFF2-40B4-BE49-F238E27FC236}">
                <a16:creationId xmlns:a16="http://schemas.microsoft.com/office/drawing/2014/main" id="{516E0664-31C8-EE77-E034-2DAD5FFF6081}"/>
              </a:ext>
            </a:extLst>
          </p:cNvPr>
          <p:cNvPicPr>
            <a:picLocks noGrp="1" noChangeAspect="1"/>
          </p:cNvPicPr>
          <p:nvPr>
            <p:ph idx="1"/>
          </p:nvPr>
        </p:nvPicPr>
        <p:blipFill>
          <a:blip r:embed="rId2"/>
          <a:srcRect l="7592" t="12475" r="7034" b="11451"/>
          <a:stretch>
            <a:fillRect/>
          </a:stretch>
        </p:blipFill>
        <p:spPr>
          <a:xfrm>
            <a:off x="5095056" y="471947"/>
            <a:ext cx="6973643" cy="6213987"/>
          </a:xfrm>
          <a:ln>
            <a:solidFill>
              <a:srgbClr val="7030A0"/>
            </a:solidFill>
          </a:ln>
        </p:spPr>
      </p:pic>
    </p:spTree>
    <p:extLst>
      <p:ext uri="{BB962C8B-B14F-4D97-AF65-F5344CB8AC3E}">
        <p14:creationId xmlns:p14="http://schemas.microsoft.com/office/powerpoint/2010/main" val="607518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C6844-F5C5-5E83-7975-D9D1ED544274}"/>
              </a:ext>
            </a:extLst>
          </p:cNvPr>
          <p:cNvSpPr>
            <a:spLocks noGrp="1"/>
          </p:cNvSpPr>
          <p:nvPr>
            <p:ph type="title"/>
          </p:nvPr>
        </p:nvSpPr>
        <p:spPr>
          <a:xfrm>
            <a:off x="393291" y="137652"/>
            <a:ext cx="11621728" cy="1554590"/>
          </a:xfrm>
        </p:spPr>
        <p:txBody>
          <a:bodyPr/>
          <a:lstStyle/>
          <a:p>
            <a:r>
              <a:rPr lang="en-US" dirty="0"/>
              <a:t>WHY I CHOOSE XGBOOST AS ML MODEL FOR THE PROJECT</a:t>
            </a:r>
            <a:br>
              <a:rPr lang="en-US" dirty="0"/>
            </a:br>
            <a:r>
              <a:rPr lang="en-US" dirty="0"/>
              <a:t>							AND THE ACCURACY </a:t>
            </a:r>
            <a:endParaRPr lang="en-IN" dirty="0"/>
          </a:p>
        </p:txBody>
      </p:sp>
      <p:sp>
        <p:nvSpPr>
          <p:cNvPr id="3" name="Content Placeholder 2">
            <a:extLst>
              <a:ext uri="{FF2B5EF4-FFF2-40B4-BE49-F238E27FC236}">
                <a16:creationId xmlns:a16="http://schemas.microsoft.com/office/drawing/2014/main" id="{1BF97F79-9057-BE36-AE8E-4598CABE8F0C}"/>
              </a:ext>
            </a:extLst>
          </p:cNvPr>
          <p:cNvSpPr>
            <a:spLocks noGrp="1"/>
          </p:cNvSpPr>
          <p:nvPr>
            <p:ph idx="1"/>
          </p:nvPr>
        </p:nvSpPr>
        <p:spPr/>
        <p:txBody>
          <a:bodyPr/>
          <a:lstStyle/>
          <a:p>
            <a:pPr>
              <a:buFont typeface="Wingdings" panose="05000000000000000000" pitchFamily="2" charset="2"/>
              <a:buChar char="v"/>
            </a:pPr>
            <a:r>
              <a:rPr lang="en-US" dirty="0"/>
              <a:t>GAVE THE HIGHEST ACCURACY PERCENTAGE AMONG LINEAR REGRESSION,LOGISTIC REGRESSION, DECISION TRESS,KNN,SVN AND RANDOM FOREST.</a:t>
            </a:r>
          </a:p>
          <a:p>
            <a:pPr>
              <a:buFont typeface="Wingdings" panose="05000000000000000000" pitchFamily="2" charset="2"/>
              <a:buChar char="v"/>
            </a:pPr>
            <a:r>
              <a:rPr lang="en-US" dirty="0"/>
              <a:t>THE ACCURACY OF MY MODEL IS NEARLY EQUAL TO 81.5% .</a:t>
            </a:r>
          </a:p>
          <a:p>
            <a:pPr>
              <a:buFont typeface="Wingdings" panose="05000000000000000000" pitchFamily="2" charset="2"/>
              <a:buChar char="v"/>
            </a:pPr>
            <a:r>
              <a:rPr lang="en-US" dirty="0"/>
              <a:t>THE MODERATE ACCURACY OF MY MODEL IS DUE TO DEFICIENT AMOUNT OF DATA PROVIDED.</a:t>
            </a:r>
          </a:p>
          <a:p>
            <a:pPr>
              <a:buFont typeface="Wingdings" panose="05000000000000000000" pitchFamily="2" charset="2"/>
              <a:buChar char="v"/>
            </a:pPr>
            <a:r>
              <a:rPr lang="en-US" dirty="0"/>
              <a:t>THE OTHER DATASETS I NEED TO AVOID BECAUSE OF THE FEATURES WERE NOT SIMILAR TO THE LIST OF FEATURES PROVIED AT THE START OF PROJECT IN ACCORDANCE TO WHICH WE NEED TO TRAIN OUR MODEL.</a:t>
            </a:r>
            <a:endParaRPr lang="en-IN" dirty="0"/>
          </a:p>
        </p:txBody>
      </p:sp>
    </p:spTree>
    <p:extLst>
      <p:ext uri="{BB962C8B-B14F-4D97-AF65-F5344CB8AC3E}">
        <p14:creationId xmlns:p14="http://schemas.microsoft.com/office/powerpoint/2010/main" val="996740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16B1-9DF4-E1AA-5B08-7C82ABD2CE2D}"/>
              </a:ext>
            </a:extLst>
          </p:cNvPr>
          <p:cNvSpPr>
            <a:spLocks noGrp="1"/>
          </p:cNvSpPr>
          <p:nvPr>
            <p:ph type="title"/>
          </p:nvPr>
        </p:nvSpPr>
        <p:spPr>
          <a:xfrm>
            <a:off x="115531" y="108155"/>
            <a:ext cx="4948082" cy="3608439"/>
          </a:xfrm>
        </p:spPr>
        <p:txBody>
          <a:bodyPr>
            <a:normAutofit/>
          </a:bodyPr>
          <a:lstStyle/>
          <a:p>
            <a:r>
              <a:rPr lang="en-US" dirty="0"/>
              <a:t>Visual Representation</a:t>
            </a:r>
            <a:br>
              <a:rPr lang="en-US" dirty="0"/>
            </a:br>
            <a:br>
              <a:rPr lang="en-US" dirty="0"/>
            </a:br>
            <a:br>
              <a:rPr lang="en-US" dirty="0"/>
            </a:br>
            <a:r>
              <a:rPr lang="en-US" sz="1800" dirty="0"/>
              <a:t>I have used scaled values while </a:t>
            </a:r>
            <a:br>
              <a:rPr lang="en-US" sz="1800" dirty="0"/>
            </a:br>
            <a:r>
              <a:rPr lang="en-US" sz="1800" dirty="0"/>
              <a:t>making the plot between user given </a:t>
            </a:r>
            <a:br>
              <a:rPr lang="en-US" sz="1800" dirty="0"/>
            </a:br>
            <a:r>
              <a:rPr lang="en-US" sz="1800" dirty="0"/>
              <a:t>data and mean data because different </a:t>
            </a:r>
            <a:br>
              <a:rPr lang="en-US" sz="1800" dirty="0"/>
            </a:br>
            <a:r>
              <a:rPr lang="en-US" sz="1800" dirty="0"/>
              <a:t>scales are used to measure different </a:t>
            </a:r>
            <a:br>
              <a:rPr lang="en-US" sz="1800" dirty="0"/>
            </a:br>
            <a:r>
              <a:rPr lang="en-US" sz="1800" dirty="0"/>
              <a:t>components</a:t>
            </a:r>
            <a:endParaRPr lang="en-IN" dirty="0"/>
          </a:p>
        </p:txBody>
      </p:sp>
      <p:pic>
        <p:nvPicPr>
          <p:cNvPr id="15" name="Content Placeholder 14" descr="A graph of different sizes and colors&#10;&#10;AI-generated content may be incorrect.">
            <a:extLst>
              <a:ext uri="{FF2B5EF4-FFF2-40B4-BE49-F238E27FC236}">
                <a16:creationId xmlns:a16="http://schemas.microsoft.com/office/drawing/2014/main" id="{A9BF7A86-839C-192D-3F98-7F8143B2FCB6}"/>
              </a:ext>
            </a:extLst>
          </p:cNvPr>
          <p:cNvPicPr>
            <a:picLocks noGrp="1" noChangeAspect="1"/>
          </p:cNvPicPr>
          <p:nvPr>
            <p:ph idx="1"/>
          </p:nvPr>
        </p:nvPicPr>
        <p:blipFill>
          <a:blip r:embed="rId2"/>
          <a:stretch>
            <a:fillRect/>
          </a:stretch>
        </p:blipFill>
        <p:spPr>
          <a:xfrm>
            <a:off x="4631088" y="1589421"/>
            <a:ext cx="7333961" cy="4583726"/>
          </a:xfrm>
        </p:spPr>
      </p:pic>
    </p:spTree>
    <p:extLst>
      <p:ext uri="{BB962C8B-B14F-4D97-AF65-F5344CB8AC3E}">
        <p14:creationId xmlns:p14="http://schemas.microsoft.com/office/powerpoint/2010/main" val="1766775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BA2A5-8D3B-7761-E544-9054E96B5E4A}"/>
              </a:ext>
            </a:extLst>
          </p:cNvPr>
          <p:cNvSpPr>
            <a:spLocks noGrp="1"/>
          </p:cNvSpPr>
          <p:nvPr>
            <p:ph type="title"/>
          </p:nvPr>
        </p:nvSpPr>
        <p:spPr/>
        <p:txBody>
          <a:bodyPr/>
          <a:lstStyle/>
          <a:p>
            <a:r>
              <a:rPr lang="en-US" dirty="0"/>
              <a:t>A short view of my project</a:t>
            </a:r>
            <a:br>
              <a:rPr lang="en-US" dirty="0"/>
            </a:br>
            <a:endParaRPr lang="en-IN" dirty="0"/>
          </a:p>
        </p:txBody>
      </p:sp>
      <p:pic>
        <p:nvPicPr>
          <p:cNvPr id="5" name="Content Placeholder 4" descr="A screenshot of a computer&#10;&#10;AI-generated content may be incorrect.">
            <a:extLst>
              <a:ext uri="{FF2B5EF4-FFF2-40B4-BE49-F238E27FC236}">
                <a16:creationId xmlns:a16="http://schemas.microsoft.com/office/drawing/2014/main" id="{8D453756-DAB8-CA8F-C2E2-A081719BF85F}"/>
              </a:ext>
            </a:extLst>
          </p:cNvPr>
          <p:cNvPicPr>
            <a:picLocks noGrp="1" noChangeAspect="1"/>
          </p:cNvPicPr>
          <p:nvPr>
            <p:ph idx="1"/>
          </p:nvPr>
        </p:nvPicPr>
        <p:blipFill>
          <a:blip r:embed="rId2"/>
          <a:stretch>
            <a:fillRect/>
          </a:stretch>
        </p:blipFill>
        <p:spPr>
          <a:xfrm>
            <a:off x="612170" y="1635368"/>
            <a:ext cx="8339214" cy="3941225"/>
          </a:xfrm>
          <a:prstGeom prst="rect">
            <a:avLst/>
          </a:prstGeom>
        </p:spPr>
      </p:pic>
    </p:spTree>
    <p:extLst>
      <p:ext uri="{BB962C8B-B14F-4D97-AF65-F5344CB8AC3E}">
        <p14:creationId xmlns:p14="http://schemas.microsoft.com/office/powerpoint/2010/main" val="3933098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13F6E-4D06-FB0C-6AFB-487BB7765789}"/>
              </a:ext>
            </a:extLst>
          </p:cNvPr>
          <p:cNvSpPr>
            <a:spLocks noGrp="1"/>
          </p:cNvSpPr>
          <p:nvPr>
            <p:ph type="title"/>
          </p:nvPr>
        </p:nvSpPr>
        <p:spPr/>
        <p:txBody>
          <a:bodyPr/>
          <a:lstStyle/>
          <a:p>
            <a:r>
              <a:rPr lang="en-US" dirty="0"/>
              <a:t>Graphs section</a:t>
            </a:r>
            <a:endParaRPr lang="en-IN" dirty="0"/>
          </a:p>
        </p:txBody>
      </p:sp>
      <p:pic>
        <p:nvPicPr>
          <p:cNvPr id="8" name="Picture 7" descr="A graph with blue squares&#10;&#10;AI-generated content may be incorrect.">
            <a:extLst>
              <a:ext uri="{FF2B5EF4-FFF2-40B4-BE49-F238E27FC236}">
                <a16:creationId xmlns:a16="http://schemas.microsoft.com/office/drawing/2014/main" id="{EB826C39-3BD8-8125-A5A5-4E634B4782A2}"/>
              </a:ext>
            </a:extLst>
          </p:cNvPr>
          <p:cNvPicPr>
            <a:picLocks noChangeAspect="1"/>
          </p:cNvPicPr>
          <p:nvPr/>
        </p:nvPicPr>
        <p:blipFill>
          <a:blip r:embed="rId2"/>
          <a:stretch>
            <a:fillRect/>
          </a:stretch>
        </p:blipFill>
        <p:spPr>
          <a:xfrm>
            <a:off x="491146" y="1790563"/>
            <a:ext cx="10158932" cy="4615747"/>
          </a:xfrm>
          <a:prstGeom prst="rect">
            <a:avLst/>
          </a:prstGeom>
        </p:spPr>
      </p:pic>
    </p:spTree>
    <p:extLst>
      <p:ext uri="{BB962C8B-B14F-4D97-AF65-F5344CB8AC3E}">
        <p14:creationId xmlns:p14="http://schemas.microsoft.com/office/powerpoint/2010/main" val="3109831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CC2DF-0FDF-3CC1-F9C4-406855ECDC7E}"/>
              </a:ext>
            </a:extLst>
          </p:cNvPr>
          <p:cNvSpPr>
            <a:spLocks noGrp="1"/>
          </p:cNvSpPr>
          <p:nvPr>
            <p:ph type="title"/>
          </p:nvPr>
        </p:nvSpPr>
        <p:spPr>
          <a:xfrm>
            <a:off x="685800" y="117988"/>
            <a:ext cx="10131425" cy="1456267"/>
          </a:xfrm>
        </p:spPr>
        <p:txBody>
          <a:bodyPr/>
          <a:lstStyle/>
          <a:p>
            <a:r>
              <a:rPr lang="en-US" dirty="0"/>
              <a:t>About section</a:t>
            </a:r>
            <a:endParaRPr lang="en-IN" dirty="0"/>
          </a:p>
        </p:txBody>
      </p:sp>
      <p:sp>
        <p:nvSpPr>
          <p:cNvPr id="3" name="Content Placeholder 2">
            <a:extLst>
              <a:ext uri="{FF2B5EF4-FFF2-40B4-BE49-F238E27FC236}">
                <a16:creationId xmlns:a16="http://schemas.microsoft.com/office/drawing/2014/main" id="{6FF4C633-C3A1-4994-94D3-5447765C5D6B}"/>
              </a:ext>
            </a:extLst>
          </p:cNvPr>
          <p:cNvSpPr>
            <a:spLocks noGrp="1"/>
          </p:cNvSpPr>
          <p:nvPr>
            <p:ph idx="1"/>
          </p:nvPr>
        </p:nvSpPr>
        <p:spPr/>
        <p:txBody>
          <a:bodyPr/>
          <a:lstStyle/>
          <a:p>
            <a:endParaRPr lang="en-IN"/>
          </a:p>
        </p:txBody>
      </p:sp>
      <p:pic>
        <p:nvPicPr>
          <p:cNvPr id="5" name="Picture 4" descr="A screenshot of a computer&#10;&#10;AI-generated content may be incorrect.">
            <a:extLst>
              <a:ext uri="{FF2B5EF4-FFF2-40B4-BE49-F238E27FC236}">
                <a16:creationId xmlns:a16="http://schemas.microsoft.com/office/drawing/2014/main" id="{C6D48368-7A53-F05D-FB9C-92F8308D0104}"/>
              </a:ext>
            </a:extLst>
          </p:cNvPr>
          <p:cNvPicPr>
            <a:picLocks noChangeAspect="1"/>
          </p:cNvPicPr>
          <p:nvPr/>
        </p:nvPicPr>
        <p:blipFill>
          <a:blip r:embed="rId2"/>
          <a:stretch>
            <a:fillRect/>
          </a:stretch>
        </p:blipFill>
        <p:spPr>
          <a:xfrm>
            <a:off x="471886" y="1448380"/>
            <a:ext cx="11034313" cy="5036506"/>
          </a:xfrm>
          <a:prstGeom prst="rect">
            <a:avLst/>
          </a:prstGeom>
        </p:spPr>
      </p:pic>
    </p:spTree>
    <p:extLst>
      <p:ext uri="{BB962C8B-B14F-4D97-AF65-F5344CB8AC3E}">
        <p14:creationId xmlns:p14="http://schemas.microsoft.com/office/powerpoint/2010/main" val="2785057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F03EF-4751-9A9F-5F12-92F94CCD17AE}"/>
              </a:ext>
            </a:extLst>
          </p:cNvPr>
          <p:cNvSpPr>
            <a:spLocks noGrp="1"/>
          </p:cNvSpPr>
          <p:nvPr>
            <p:ph type="title"/>
          </p:nvPr>
        </p:nvSpPr>
        <p:spPr/>
        <p:txBody>
          <a:bodyPr/>
          <a:lstStyle/>
          <a:p>
            <a:r>
              <a:rPr lang="en-US" dirty="0"/>
              <a:t>Download data as pdf</a:t>
            </a:r>
            <a:endParaRPr lang="en-IN" dirty="0"/>
          </a:p>
        </p:txBody>
      </p:sp>
      <p:sp>
        <p:nvSpPr>
          <p:cNvPr id="3" name="Content Placeholder 2">
            <a:extLst>
              <a:ext uri="{FF2B5EF4-FFF2-40B4-BE49-F238E27FC236}">
                <a16:creationId xmlns:a16="http://schemas.microsoft.com/office/drawing/2014/main" id="{2CCCE410-69C7-D31B-19DB-C8A5AC6B5469}"/>
              </a:ext>
            </a:extLst>
          </p:cNvPr>
          <p:cNvSpPr>
            <a:spLocks noGrp="1"/>
          </p:cNvSpPr>
          <p:nvPr>
            <p:ph idx="1"/>
          </p:nvPr>
        </p:nvSpPr>
        <p:spPr>
          <a:xfrm>
            <a:off x="685802" y="2142067"/>
            <a:ext cx="6295102" cy="3649133"/>
          </a:xfrm>
        </p:spPr>
        <p:txBody>
          <a:bodyPr/>
          <a:lstStyle/>
          <a:p>
            <a:pPr marL="0" indent="0">
              <a:buNone/>
            </a:pPr>
            <a:r>
              <a:rPr lang="en-US" dirty="0"/>
              <a:t>A download button is provided in the Detection page where we </a:t>
            </a:r>
          </a:p>
          <a:p>
            <a:pPr marL="0" indent="0">
              <a:buNone/>
            </a:pPr>
            <a:r>
              <a:rPr lang="en-US" dirty="0"/>
              <a:t>can download the input details , prediction and graph as pdf file.</a:t>
            </a:r>
            <a:endParaRPr lang="en-IN" dirty="0"/>
          </a:p>
        </p:txBody>
      </p:sp>
      <p:pic>
        <p:nvPicPr>
          <p:cNvPr id="5" name="Picture 4" descr="A screenshot of a computer&#10;&#10;AI-generated content may be incorrect.">
            <a:extLst>
              <a:ext uri="{FF2B5EF4-FFF2-40B4-BE49-F238E27FC236}">
                <a16:creationId xmlns:a16="http://schemas.microsoft.com/office/drawing/2014/main" id="{E46FDAA0-2BDF-EA21-891C-5E28645DB813}"/>
              </a:ext>
            </a:extLst>
          </p:cNvPr>
          <p:cNvPicPr>
            <a:picLocks noChangeAspect="1"/>
          </p:cNvPicPr>
          <p:nvPr/>
        </p:nvPicPr>
        <p:blipFill>
          <a:blip r:embed="rId2"/>
          <a:stretch>
            <a:fillRect/>
          </a:stretch>
        </p:blipFill>
        <p:spPr>
          <a:xfrm>
            <a:off x="7799695" y="232916"/>
            <a:ext cx="2924583" cy="6392167"/>
          </a:xfrm>
          <a:prstGeom prst="rect">
            <a:avLst/>
          </a:prstGeom>
        </p:spPr>
      </p:pic>
    </p:spTree>
    <p:extLst>
      <p:ext uri="{BB962C8B-B14F-4D97-AF65-F5344CB8AC3E}">
        <p14:creationId xmlns:p14="http://schemas.microsoft.com/office/powerpoint/2010/main" val="332896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DCB61-38C6-6896-09C2-0BC0071309D9}"/>
              </a:ext>
            </a:extLst>
          </p:cNvPr>
          <p:cNvSpPr>
            <a:spLocks noGrp="1"/>
          </p:cNvSpPr>
          <p:nvPr>
            <p:ph type="title"/>
          </p:nvPr>
        </p:nvSpPr>
        <p:spPr>
          <a:xfrm>
            <a:off x="86034" y="609600"/>
            <a:ext cx="3719051" cy="1456267"/>
          </a:xfrm>
        </p:spPr>
        <p:txBody>
          <a:bodyPr/>
          <a:lstStyle/>
          <a:p>
            <a:r>
              <a:rPr lang="en-US" dirty="0"/>
              <a:t>Demo PDF File</a:t>
            </a:r>
            <a:endParaRPr lang="en-IN" dirty="0"/>
          </a:p>
        </p:txBody>
      </p:sp>
      <p:pic>
        <p:nvPicPr>
          <p:cNvPr id="5" name="Content Placeholder 4" descr="A screenshot of a medical report&#10;&#10;AI-generated content may be incorrect.">
            <a:extLst>
              <a:ext uri="{FF2B5EF4-FFF2-40B4-BE49-F238E27FC236}">
                <a16:creationId xmlns:a16="http://schemas.microsoft.com/office/drawing/2014/main" id="{453E4AFF-6A19-EEDA-7155-84B96C31F53E}"/>
              </a:ext>
            </a:extLst>
          </p:cNvPr>
          <p:cNvPicPr>
            <a:picLocks noGrp="1" noChangeAspect="1"/>
          </p:cNvPicPr>
          <p:nvPr>
            <p:ph idx="1"/>
          </p:nvPr>
        </p:nvPicPr>
        <p:blipFill>
          <a:blip r:embed="rId2"/>
          <a:stretch>
            <a:fillRect/>
          </a:stretch>
        </p:blipFill>
        <p:spPr>
          <a:xfrm>
            <a:off x="3271962" y="571748"/>
            <a:ext cx="4211849" cy="5952928"/>
          </a:xfrm>
        </p:spPr>
      </p:pic>
      <p:pic>
        <p:nvPicPr>
          <p:cNvPr id="7" name="Picture 6" descr="A screenshot of a graph&#10;&#10;AI-generated content may be incorrect.">
            <a:extLst>
              <a:ext uri="{FF2B5EF4-FFF2-40B4-BE49-F238E27FC236}">
                <a16:creationId xmlns:a16="http://schemas.microsoft.com/office/drawing/2014/main" id="{E5301A52-5D79-D181-AC07-0F5F384409C9}"/>
              </a:ext>
            </a:extLst>
          </p:cNvPr>
          <p:cNvPicPr>
            <a:picLocks noChangeAspect="1"/>
          </p:cNvPicPr>
          <p:nvPr/>
        </p:nvPicPr>
        <p:blipFill>
          <a:blip r:embed="rId3"/>
          <a:stretch>
            <a:fillRect/>
          </a:stretch>
        </p:blipFill>
        <p:spPr>
          <a:xfrm>
            <a:off x="7653423" y="559785"/>
            <a:ext cx="4211849" cy="5952928"/>
          </a:xfrm>
          <a:prstGeom prst="rect">
            <a:avLst/>
          </a:prstGeom>
        </p:spPr>
      </p:pic>
    </p:spTree>
    <p:extLst>
      <p:ext uri="{BB962C8B-B14F-4D97-AF65-F5344CB8AC3E}">
        <p14:creationId xmlns:p14="http://schemas.microsoft.com/office/powerpoint/2010/main" val="1209601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ight spots">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0"/>
            <a:ext cx="12191980" cy="6857990"/>
          </a:xfrm>
          <a:prstGeom prst="rect">
            <a:avLst/>
          </a:prstGeom>
        </p:spPr>
      </p:pic>
      <p:sp>
        <p:nvSpPr>
          <p:cNvPr id="2" name="Title 1">
            <a:extLst>
              <a:ext uri="{FF2B5EF4-FFF2-40B4-BE49-F238E27FC236}">
                <a16:creationId xmlns:a16="http://schemas.microsoft.com/office/drawing/2014/main" id="{D44BCB7C-A6FC-4118-9027-468ECFDE6455}"/>
              </a:ext>
            </a:extLst>
          </p:cNvPr>
          <p:cNvSpPr>
            <a:spLocks noGrp="1"/>
          </p:cNvSpPr>
          <p:nvPr>
            <p:ph type="ctrTitle"/>
          </p:nvPr>
        </p:nvSpPr>
        <p:spPr>
          <a:xfrm>
            <a:off x="4159044" y="3429000"/>
            <a:ext cx="7197726" cy="2421464"/>
          </a:xfrm>
        </p:spPr>
        <p:txBody>
          <a:bodyPr>
            <a:normAutofit/>
          </a:bodyPr>
          <a:lstStyle/>
          <a:p>
            <a:r>
              <a:rPr lang="en-US" b="1" dirty="0"/>
              <a:t>Thank You!</a:t>
            </a:r>
          </a:p>
        </p:txBody>
      </p:sp>
    </p:spTree>
    <p:extLst>
      <p:ext uri="{BB962C8B-B14F-4D97-AF65-F5344CB8AC3E}">
        <p14:creationId xmlns:p14="http://schemas.microsoft.com/office/powerpoint/2010/main" val="29399308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0D51BCB-0419-432E-B7F1-25548446A625}">
  <ds:schemaRefs>
    <ds:schemaRef ds:uri="http://schemas.microsoft.com/sharepoint/v3/contenttype/forms"/>
  </ds:schemaRefs>
</ds:datastoreItem>
</file>

<file path=customXml/itemProps2.xml><?xml version="1.0" encoding="utf-8"?>
<ds:datastoreItem xmlns:ds="http://schemas.openxmlformats.org/officeDocument/2006/customXml" ds:itemID="{9E8D3305-1D9D-4BC8-A40F-6F8AE50BD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08B90B-70ED-4539-9C14-FB2728D9064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Future design</Template>
  <TotalTime>135</TotalTime>
  <Words>633</Words>
  <Application>Microsoft Office PowerPoint</Application>
  <PresentationFormat>Widescreen</PresentationFormat>
  <Paragraphs>53</Paragraphs>
  <Slides>14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Rounded MT Bold</vt:lpstr>
      <vt:lpstr>Calibri</vt:lpstr>
      <vt:lpstr>Calibri Light</vt:lpstr>
      <vt:lpstr>Cascadia Code SemiLight</vt:lpstr>
      <vt:lpstr>Wingdings</vt:lpstr>
      <vt:lpstr>Celestial</vt:lpstr>
      <vt:lpstr>Diabetes detection</vt:lpstr>
      <vt:lpstr>Features of my project</vt:lpstr>
      <vt:lpstr>ABOUT THE TOPIC- “DIABETES DETECTION”</vt:lpstr>
      <vt:lpstr>Models used  in my project:</vt:lpstr>
      <vt:lpstr>        Steps of project</vt:lpstr>
      <vt:lpstr>A outlook of my directory</vt:lpstr>
      <vt:lpstr>WHY I CHOOSE XGBOOST AS ML MODEL FOR THE PROJECT        AND THE ACCURACY </vt:lpstr>
      <vt:lpstr>Visual Representation   I have used scaled values while  making the plot between user given  data and mean data because different  scales are used to measure different  components</vt:lpstr>
      <vt:lpstr>A short view of my project </vt:lpstr>
      <vt:lpstr>Graphs section</vt:lpstr>
      <vt:lpstr>About section</vt:lpstr>
      <vt:lpstr>Download data as pdf</vt:lpstr>
      <vt:lpstr>Demo PDF File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supratim kukri</dc:creator>
  <cp:lastModifiedBy>supratim kukri</cp:lastModifiedBy>
  <cp:revision>3</cp:revision>
  <dcterms:created xsi:type="dcterms:W3CDTF">2025-12-31T18:40:09Z</dcterms:created>
  <dcterms:modified xsi:type="dcterms:W3CDTF">2025-12-31T20:55:48Z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